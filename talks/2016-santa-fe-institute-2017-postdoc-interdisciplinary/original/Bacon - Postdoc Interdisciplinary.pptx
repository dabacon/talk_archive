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Shape 15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Shape 1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Shape 19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Shape 20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Shape 2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Shape 2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Shape 22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Shape 22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0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0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04.png"/><Relationship Id="rId4" Type="http://schemas.openxmlformats.org/officeDocument/2006/relationships/image" Target="../media/image0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0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0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Shape 54"/>
          <p:cNvPicPr preferRelativeResize="0"/>
          <p:nvPr/>
        </p:nvPicPr>
        <p:blipFill rotWithShape="1">
          <a:blip r:embed="rId3">
            <a:alphaModFix/>
          </a:blip>
          <a:srcRect b="7450" l="0" r="0" t="18486"/>
          <a:stretch/>
        </p:blipFill>
        <p:spPr>
          <a:xfrm>
            <a:off x="0" y="0"/>
            <a:ext cx="9143997" cy="677226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Shape 55"/>
          <p:cNvSpPr txBox="1"/>
          <p:nvPr>
            <p:ph type="ctrTitle"/>
          </p:nvPr>
        </p:nvSpPr>
        <p:spPr>
          <a:xfrm>
            <a:off x="311708" y="1349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Crossing the Disciplinary Divide</a:t>
            </a:r>
          </a:p>
        </p:txBody>
      </p:sp>
      <p:sp>
        <p:nvSpPr>
          <p:cNvPr id="56" name="Shape 56"/>
          <p:cNvSpPr txBox="1"/>
          <p:nvPr>
            <p:ph idx="1" type="subTitle"/>
          </p:nvPr>
        </p:nvSpPr>
        <p:spPr>
          <a:xfrm>
            <a:off x="311700" y="3062725"/>
            <a:ext cx="8520600" cy="792600"/>
          </a:xfrm>
          <a:prstGeom prst="rect">
            <a:avLst/>
          </a:prstGeom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</a:rPr>
              <a:t>Dave Bacon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4014500" y="3752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D9D9D9"/>
                </a:solidFill>
              </a:rPr>
              <a:t>B.S. Physics and Literature, Caltech (93-97)</a:t>
            </a:r>
          </a:p>
        </p:txBody>
      </p:sp>
      <p:sp>
        <p:nvSpPr>
          <p:cNvPr id="62" name="Shape 62"/>
          <p:cNvSpPr txBox="1"/>
          <p:nvPr/>
        </p:nvSpPr>
        <p:spPr>
          <a:xfrm>
            <a:off x="3023900" y="6800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500">
                <a:solidFill>
                  <a:srgbClr val="D9D9D9"/>
                </a:solidFill>
              </a:rPr>
              <a:t>Ph.D. Physics</a:t>
            </a:r>
            <a:r>
              <a:rPr lang="en" sz="1500">
                <a:solidFill>
                  <a:srgbClr val="D9D9D9"/>
                </a:solidFill>
              </a:rPr>
              <a:t>, Berkeley (97-01)</a:t>
            </a:r>
          </a:p>
        </p:txBody>
      </p:sp>
      <p:sp>
        <p:nvSpPr>
          <p:cNvPr id="63" name="Shape 63"/>
          <p:cNvSpPr txBox="1"/>
          <p:nvPr/>
        </p:nvSpPr>
        <p:spPr>
          <a:xfrm>
            <a:off x="3113725" y="1129575"/>
            <a:ext cx="56331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600">
                <a:solidFill>
                  <a:srgbClr val="D9D9D9"/>
                </a:solidFill>
              </a:rPr>
              <a:t>Postdoc, Institute for Quantum Information, Caltech (01-04)</a:t>
            </a:r>
          </a:p>
        </p:txBody>
      </p:sp>
      <p:sp>
        <p:nvSpPr>
          <p:cNvPr id="64" name="Shape 64"/>
          <p:cNvSpPr txBox="1"/>
          <p:nvPr/>
        </p:nvSpPr>
        <p:spPr>
          <a:xfrm>
            <a:off x="3875725" y="15867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700">
                <a:solidFill>
                  <a:srgbClr val="D9D9D9"/>
                </a:solidFill>
              </a:rPr>
              <a:t>Postdoc, Sanfe Fe Institute (04-05)</a:t>
            </a:r>
          </a:p>
        </p:txBody>
      </p:sp>
      <p:sp>
        <p:nvSpPr>
          <p:cNvPr id="65" name="Shape 65"/>
          <p:cNvSpPr txBox="1"/>
          <p:nvPr/>
        </p:nvSpPr>
        <p:spPr>
          <a:xfrm>
            <a:off x="4485325" y="19677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rgbClr val="D9D9D9"/>
                </a:solidFill>
              </a:rPr>
              <a:t>Scientist</a:t>
            </a:r>
            <a:r>
              <a:rPr lang="en" sz="1800">
                <a:solidFill>
                  <a:srgbClr val="D9D9D9"/>
                </a:solidFill>
              </a:rPr>
              <a:t>, CS, University of Washington (05)</a:t>
            </a:r>
          </a:p>
        </p:txBody>
      </p:sp>
      <p:sp>
        <p:nvSpPr>
          <p:cNvPr id="66" name="Shape 66"/>
          <p:cNvSpPr txBox="1"/>
          <p:nvPr/>
        </p:nvSpPr>
        <p:spPr>
          <a:xfrm>
            <a:off x="4561525" y="2417275"/>
            <a:ext cx="496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900">
                <a:solidFill>
                  <a:srgbClr val="D9D9D9"/>
                </a:solidFill>
              </a:rPr>
              <a:t>Assistant Research Prof, CS (06-11)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4803650" y="33239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300">
                <a:solidFill>
                  <a:srgbClr val="D9D9D9"/>
                </a:solidFill>
              </a:rPr>
              <a:t>Software Engineer, Google (11-)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4561525" y="2798275"/>
            <a:ext cx="496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900">
                <a:solidFill>
                  <a:srgbClr val="D9D9D9"/>
                </a:solidFill>
              </a:rPr>
              <a:t>Assistant Research Prof, Physics (07-11)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/>
        </p:nvSpPr>
        <p:spPr>
          <a:xfrm>
            <a:off x="4014500" y="3752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>
                <a:solidFill>
                  <a:srgbClr val="D9D9D9"/>
                </a:solidFill>
              </a:rPr>
              <a:t>physics</a:t>
            </a:r>
          </a:p>
        </p:txBody>
      </p:sp>
      <p:sp>
        <p:nvSpPr>
          <p:cNvPr id="74" name="Shape 74"/>
          <p:cNvSpPr txBox="1"/>
          <p:nvPr/>
        </p:nvSpPr>
        <p:spPr>
          <a:xfrm>
            <a:off x="2947700" y="6800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500">
                <a:solidFill>
                  <a:srgbClr val="D9D9D9"/>
                </a:solidFill>
              </a:rPr>
              <a:t>astrophysics</a:t>
            </a:r>
          </a:p>
        </p:txBody>
      </p:sp>
      <p:sp>
        <p:nvSpPr>
          <p:cNvPr id="75" name="Shape 75"/>
          <p:cNvSpPr txBox="1"/>
          <p:nvPr/>
        </p:nvSpPr>
        <p:spPr>
          <a:xfrm>
            <a:off x="3342325" y="1023059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600">
                <a:solidFill>
                  <a:srgbClr val="D9D9D9"/>
                </a:solidFill>
              </a:rPr>
              <a:t>quantum computing</a:t>
            </a:r>
          </a:p>
        </p:txBody>
      </p:sp>
      <p:sp>
        <p:nvSpPr>
          <p:cNvPr id="76" name="Shape 76"/>
          <p:cNvSpPr txBox="1"/>
          <p:nvPr/>
        </p:nvSpPr>
        <p:spPr>
          <a:xfrm>
            <a:off x="4104325" y="14343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700">
                <a:solidFill>
                  <a:srgbClr val="D9D9D9"/>
                </a:solidFill>
              </a:rPr>
              <a:t>quantum error correction</a:t>
            </a:r>
          </a:p>
        </p:txBody>
      </p:sp>
      <p:sp>
        <p:nvSpPr>
          <p:cNvPr id="77" name="Shape 77"/>
          <p:cNvSpPr txBox="1"/>
          <p:nvPr/>
        </p:nvSpPr>
        <p:spPr>
          <a:xfrm>
            <a:off x="4637725" y="19677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900">
                <a:solidFill>
                  <a:srgbClr val="D9D9D9"/>
                </a:solidFill>
              </a:rPr>
              <a:t>quantum algorithms</a:t>
            </a:r>
          </a:p>
        </p:txBody>
      </p:sp>
      <p:sp>
        <p:nvSpPr>
          <p:cNvPr id="78" name="Shape 78"/>
          <p:cNvSpPr txBox="1"/>
          <p:nvPr/>
        </p:nvSpPr>
        <p:spPr>
          <a:xfrm>
            <a:off x="4713925" y="2493475"/>
            <a:ext cx="496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>
                <a:solidFill>
                  <a:srgbClr val="D9D9D9"/>
                </a:solidFill>
              </a:rPr>
              <a:t>self correcting quantum computers</a:t>
            </a:r>
          </a:p>
        </p:txBody>
      </p:sp>
      <p:sp>
        <p:nvSpPr>
          <p:cNvPr id="79" name="Shape 79"/>
          <p:cNvSpPr txBox="1"/>
          <p:nvPr/>
        </p:nvSpPr>
        <p:spPr>
          <a:xfrm>
            <a:off x="5489450" y="3560275"/>
            <a:ext cx="50370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D9D9D9"/>
                </a:solidFill>
              </a:rPr>
              <a:t>machine learning</a:t>
            </a:r>
          </a:p>
        </p:txBody>
      </p:sp>
      <p:sp>
        <p:nvSpPr>
          <p:cNvPr id="80" name="Shape 80"/>
          <p:cNvSpPr txBox="1"/>
          <p:nvPr/>
        </p:nvSpPr>
        <p:spPr>
          <a:xfrm>
            <a:off x="4713925" y="2874475"/>
            <a:ext cx="496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 sz="1900">
              <a:solidFill>
                <a:srgbClr val="D9D9D9"/>
              </a:solidFill>
            </a:endParaRPr>
          </a:p>
        </p:txBody>
      </p:sp>
      <p:sp>
        <p:nvSpPr>
          <p:cNvPr id="81" name="Shape 81"/>
          <p:cNvSpPr txBox="1"/>
          <p:nvPr/>
        </p:nvSpPr>
        <p:spPr>
          <a:xfrm>
            <a:off x="5656775" y="3021250"/>
            <a:ext cx="49608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300">
                <a:solidFill>
                  <a:srgbClr val="D9D9D9"/>
                </a:solidFill>
              </a:rPr>
              <a:t>software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What I Know Now That I Wish I Knew As A Postdoc</a:t>
            </a:r>
          </a:p>
        </p:txBody>
      </p:sp>
      <p:sp>
        <p:nvSpPr>
          <p:cNvPr id="87" name="Shape 87"/>
          <p:cNvSpPr txBox="1"/>
          <p:nvPr/>
        </p:nvSpPr>
        <p:spPr>
          <a:xfrm>
            <a:off x="434525" y="1364200"/>
            <a:ext cx="8306400" cy="1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indent="-368300" lvl="0" marL="457200" rtl="0">
              <a:spcBef>
                <a:spcPts val="0"/>
              </a:spcBef>
              <a:buSzPct val="100000"/>
              <a:buChar char="●"/>
            </a:pPr>
            <a:r>
              <a:rPr lang="en" sz="2200"/>
              <a:t>A framework for cross </a:t>
            </a:r>
            <a:r>
              <a:rPr lang="en" sz="2200"/>
              <a:t>disciplinary</a:t>
            </a:r>
            <a:r>
              <a:rPr lang="en" sz="2200"/>
              <a:t> work in academia </a:t>
            </a:r>
          </a:p>
          <a:p>
            <a:pPr indent="457200" lvl="0" rtl="0">
              <a:spcBef>
                <a:spcPts val="0"/>
              </a:spcBef>
              <a:buNone/>
            </a:pPr>
            <a:r>
              <a:rPr lang="en" sz="2200"/>
              <a:t>(and how it impacts getting a job, and how you work)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 sz="2200"/>
          </a:p>
          <a:p>
            <a:pPr indent="-368300" lvl="0" marL="457200" rtl="0">
              <a:spcBef>
                <a:spcPts val="0"/>
              </a:spcBef>
              <a:buSzPct val="100000"/>
              <a:buChar char="●"/>
            </a:pPr>
            <a:r>
              <a:rPr lang="en" sz="2200"/>
              <a:t>Investing in a dictionary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2200"/>
          </a:p>
          <a:p>
            <a:pPr indent="-368300" lvl="0" marL="457200" rtl="0">
              <a:spcBef>
                <a:spcPts val="0"/>
              </a:spcBef>
              <a:buSzPct val="100000"/>
              <a:buChar char="●"/>
            </a:pPr>
            <a:r>
              <a:rPr lang="en" sz="2200"/>
              <a:t>Freedom, hobbies, and of endeavors of a </a:t>
            </a:r>
            <a:r>
              <a:rPr lang="en" sz="2200"/>
              <a:t>whimsical</a:t>
            </a:r>
            <a:r>
              <a:rPr lang="en" sz="2200"/>
              <a:t> nature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2200"/>
          </a:p>
          <a:p>
            <a:pPr indent="-368300" lvl="0" marL="457200" rtl="0">
              <a:spcBef>
                <a:spcPts val="0"/>
              </a:spcBef>
              <a:buSzPct val="100000"/>
              <a:buChar char="●"/>
            </a:pPr>
            <a:r>
              <a:rPr lang="en" sz="2200"/>
              <a:t>Create, create, create, create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Shape 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3150" y="838200"/>
            <a:ext cx="4762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/>
          <p:nvPr/>
        </p:nvSpPr>
        <p:spPr>
          <a:xfrm>
            <a:off x="470825" y="2431625"/>
            <a:ext cx="2173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Multidisciplinary</a:t>
            </a:r>
          </a:p>
        </p:txBody>
      </p:sp>
      <p:sp>
        <p:nvSpPr>
          <p:cNvPr id="98" name="Shape 98"/>
          <p:cNvSpPr txBox="1"/>
          <p:nvPr/>
        </p:nvSpPr>
        <p:spPr>
          <a:xfrm>
            <a:off x="470820" y="2920050"/>
            <a:ext cx="2173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Interdisciplinary</a:t>
            </a:r>
          </a:p>
        </p:txBody>
      </p:sp>
      <p:sp>
        <p:nvSpPr>
          <p:cNvPr id="99" name="Shape 99"/>
          <p:cNvSpPr txBox="1"/>
          <p:nvPr/>
        </p:nvSpPr>
        <p:spPr>
          <a:xfrm>
            <a:off x="470825" y="3471654"/>
            <a:ext cx="2173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Trans</a:t>
            </a:r>
            <a:r>
              <a:rPr lang="en" sz="1800"/>
              <a:t>disciplinary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3961229" y="2423725"/>
            <a:ext cx="48168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join to solve problems within a discipline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3941625" y="2916584"/>
            <a:ext cx="4945500" cy="95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join to form new problems and disciplines</a:t>
            </a:r>
          </a:p>
        </p:txBody>
      </p:sp>
      <p:sp>
        <p:nvSpPr>
          <p:cNvPr id="102" name="Shape 102"/>
          <p:cNvSpPr txBox="1"/>
          <p:nvPr/>
        </p:nvSpPr>
        <p:spPr>
          <a:xfrm>
            <a:off x="3941625" y="3439879"/>
            <a:ext cx="50364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use of other discipline to undermine a discipline</a:t>
            </a:r>
          </a:p>
        </p:txBody>
      </p:sp>
      <p:pic>
        <p:nvPicPr>
          <p:cNvPr descr="pig-47252.png" id="103" name="Shape 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174" y="116250"/>
            <a:ext cx="3819724" cy="204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Multidisciplinary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3554050" y="1140225"/>
            <a:ext cx="36813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trapping of single molecular ions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3554050" y="2164625"/>
            <a:ext cx="60135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molecular ions as probe of physics of the interstellar medium</a:t>
            </a:r>
          </a:p>
        </p:txBody>
      </p:sp>
      <p:pic>
        <p:nvPicPr>
          <p:cNvPr descr="IMG_20170108_110935.jpg" id="111" name="Shape 111"/>
          <p:cNvPicPr preferRelativeResize="0"/>
          <p:nvPr/>
        </p:nvPicPr>
        <p:blipFill rotWithShape="1">
          <a:blip r:embed="rId3">
            <a:alphaModFix/>
          </a:blip>
          <a:srcRect b="0" l="5392" r="0" t="0"/>
          <a:stretch/>
        </p:blipFill>
        <p:spPr>
          <a:xfrm>
            <a:off x="350050" y="1166825"/>
            <a:ext cx="2591124" cy="365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5001325" y="1624925"/>
            <a:ext cx="341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b="1" lang="en" sz="2200"/>
              <a:t>+</a:t>
            </a:r>
            <a:br>
              <a:rPr lang="en" sz="2200"/>
            </a:br>
          </a:p>
        </p:txBody>
      </p:sp>
      <p:sp>
        <p:nvSpPr>
          <p:cNvPr id="113" name="Shape 113"/>
          <p:cNvSpPr txBox="1"/>
          <p:nvPr/>
        </p:nvSpPr>
        <p:spPr>
          <a:xfrm>
            <a:off x="4978050" y="2851925"/>
            <a:ext cx="341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2200"/>
              <a:t>=</a:t>
            </a:r>
            <a:br>
              <a:rPr lang="en" sz="2200"/>
            </a:br>
          </a:p>
        </p:txBody>
      </p:sp>
      <p:sp>
        <p:nvSpPr>
          <p:cNvPr id="114" name="Shape 114"/>
          <p:cNvSpPr txBox="1"/>
          <p:nvPr/>
        </p:nvSpPr>
        <p:spPr>
          <a:xfrm>
            <a:off x="3567625" y="3342225"/>
            <a:ext cx="50721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better theoretical models of interstellar medium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Interdisciplinary</a:t>
            </a:r>
          </a:p>
        </p:txBody>
      </p:sp>
      <p:pic>
        <p:nvPicPr>
          <p:cNvPr descr="IMG_20170108_112047.jpg" id="120" name="Shape 120"/>
          <p:cNvPicPr preferRelativeResize="0"/>
          <p:nvPr/>
        </p:nvPicPr>
        <p:blipFill rotWithShape="1">
          <a:blip r:embed="rId3">
            <a:alphaModFix/>
          </a:blip>
          <a:srcRect b="5961" l="0" r="0" t="4255"/>
          <a:stretch/>
        </p:blipFill>
        <p:spPr>
          <a:xfrm>
            <a:off x="414350" y="1278749"/>
            <a:ext cx="2790781" cy="334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Shape 121"/>
          <p:cNvSpPr txBox="1"/>
          <p:nvPr/>
        </p:nvSpPr>
        <p:spPr>
          <a:xfrm>
            <a:off x="3782650" y="1216425"/>
            <a:ext cx="30477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quantum theory of physics</a:t>
            </a:r>
          </a:p>
        </p:txBody>
      </p:sp>
      <p:sp>
        <p:nvSpPr>
          <p:cNvPr id="122" name="Shape 122"/>
          <p:cNvSpPr txBox="1"/>
          <p:nvPr/>
        </p:nvSpPr>
        <p:spPr>
          <a:xfrm>
            <a:off x="3782650" y="2164625"/>
            <a:ext cx="60135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theory of computational complexity</a:t>
            </a:r>
          </a:p>
        </p:txBody>
      </p:sp>
      <p:sp>
        <p:nvSpPr>
          <p:cNvPr id="123" name="Shape 123"/>
          <p:cNvSpPr txBox="1"/>
          <p:nvPr/>
        </p:nvSpPr>
        <p:spPr>
          <a:xfrm>
            <a:off x="5001325" y="1777325"/>
            <a:ext cx="341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2200"/>
              <a:t>+</a:t>
            </a:r>
            <a:br>
              <a:rPr lang="en" sz="2200"/>
            </a:br>
          </a:p>
        </p:txBody>
      </p:sp>
      <p:sp>
        <p:nvSpPr>
          <p:cNvPr id="124" name="Shape 124"/>
          <p:cNvSpPr txBox="1"/>
          <p:nvPr/>
        </p:nvSpPr>
        <p:spPr>
          <a:xfrm>
            <a:off x="4978050" y="2699525"/>
            <a:ext cx="341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2200"/>
              <a:t>=</a:t>
            </a:r>
            <a:br>
              <a:rPr lang="en" sz="2200"/>
            </a:br>
          </a:p>
        </p:txBody>
      </p:sp>
      <p:sp>
        <p:nvSpPr>
          <p:cNvPr id="125" name="Shape 125"/>
          <p:cNvSpPr txBox="1"/>
          <p:nvPr/>
        </p:nvSpPr>
        <p:spPr>
          <a:xfrm>
            <a:off x="3811071" y="3173650"/>
            <a:ext cx="45681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quantum complexity theory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Transdisciplinary</a:t>
            </a:r>
          </a:p>
        </p:txBody>
      </p:sp>
      <p:pic>
        <p:nvPicPr>
          <p:cNvPr descr="IMG_20170108_121922.jpg" id="131" name="Shape 131"/>
          <p:cNvPicPr preferRelativeResize="0"/>
          <p:nvPr/>
        </p:nvPicPr>
        <p:blipFill rotWithShape="1">
          <a:blip r:embed="rId3">
            <a:alphaModFix/>
          </a:blip>
          <a:srcRect b="830" l="16224" r="19108" t="5798"/>
          <a:stretch/>
        </p:blipFill>
        <p:spPr>
          <a:xfrm>
            <a:off x="437249" y="1174150"/>
            <a:ext cx="1896848" cy="365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Shape 132"/>
          <p:cNvSpPr txBox="1"/>
          <p:nvPr/>
        </p:nvSpPr>
        <p:spPr>
          <a:xfrm>
            <a:off x="3241450" y="1133125"/>
            <a:ext cx="41649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topological quantum field theory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3241450" y="2081325"/>
            <a:ext cx="60135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theory of knot invariants</a:t>
            </a:r>
          </a:p>
        </p:txBody>
      </p:sp>
      <p:sp>
        <p:nvSpPr>
          <p:cNvPr id="134" name="Shape 134"/>
          <p:cNvSpPr txBox="1"/>
          <p:nvPr/>
        </p:nvSpPr>
        <p:spPr>
          <a:xfrm>
            <a:off x="4383925" y="1617825"/>
            <a:ext cx="341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2200"/>
              <a:t>+</a:t>
            </a:r>
            <a:br>
              <a:rPr lang="en" sz="2200"/>
            </a:br>
          </a:p>
        </p:txBody>
      </p:sp>
      <p:sp>
        <p:nvSpPr>
          <p:cNvPr id="135" name="Shape 135"/>
          <p:cNvSpPr txBox="1"/>
          <p:nvPr/>
        </p:nvSpPr>
        <p:spPr>
          <a:xfrm>
            <a:off x="4360650" y="2616225"/>
            <a:ext cx="3411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2200"/>
              <a:t>=</a:t>
            </a:r>
            <a:br>
              <a:rPr lang="en" sz="2200"/>
            </a:br>
          </a:p>
        </p:txBody>
      </p:sp>
      <p:sp>
        <p:nvSpPr>
          <p:cNvPr id="136" name="Shape 136"/>
          <p:cNvSpPr txBox="1"/>
          <p:nvPr/>
        </p:nvSpPr>
        <p:spPr>
          <a:xfrm>
            <a:off x="3269871" y="3090350"/>
            <a:ext cx="45681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new basis for theory of knots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Words</a:t>
            </a:r>
          </a:p>
        </p:txBody>
      </p:sp>
      <p:sp>
        <p:nvSpPr>
          <p:cNvPr id="142" name="Shape 142"/>
          <p:cNvSpPr txBox="1"/>
          <p:nvPr/>
        </p:nvSpPr>
        <p:spPr>
          <a:xfrm>
            <a:off x="674900" y="1057275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multidisciplinary</a:t>
            </a:r>
          </a:p>
        </p:txBody>
      </p:sp>
      <p:sp>
        <p:nvSpPr>
          <p:cNvPr id="143" name="Shape 143"/>
          <p:cNvSpPr txBox="1"/>
          <p:nvPr/>
        </p:nvSpPr>
        <p:spPr>
          <a:xfrm>
            <a:off x="3196350" y="1048200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i="1" lang="en" sz="1800"/>
              <a:t>collaborator</a:t>
            </a:r>
          </a:p>
          <a:p>
            <a:pPr lvl="0">
              <a:spcBef>
                <a:spcPts val="0"/>
              </a:spcBef>
              <a:buNone/>
            </a:pPr>
            <a:r>
              <a:rPr i="1" lang="en" sz="1800"/>
              <a:t>new tools</a:t>
            </a:r>
          </a:p>
          <a:p>
            <a:pPr lvl="0">
              <a:spcBef>
                <a:spcPts val="0"/>
              </a:spcBef>
              <a:buNone/>
            </a:pPr>
            <a:r>
              <a:rPr i="1" lang="en" sz="1800"/>
              <a:t>complementary</a:t>
            </a:r>
          </a:p>
          <a:p>
            <a:pPr lvl="0" rtl="0">
              <a:spcBef>
                <a:spcPts val="0"/>
              </a:spcBef>
              <a:buNone/>
            </a:pPr>
            <a:r>
              <a:rPr i="1" lang="en" sz="1800"/>
              <a:t>synergy</a:t>
            </a:r>
          </a:p>
        </p:txBody>
      </p:sp>
      <p:sp>
        <p:nvSpPr>
          <p:cNvPr id="144" name="Shape 144"/>
          <p:cNvSpPr txBox="1"/>
          <p:nvPr/>
        </p:nvSpPr>
        <p:spPr>
          <a:xfrm>
            <a:off x="672950" y="2432200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interdisciplinary</a:t>
            </a:r>
          </a:p>
        </p:txBody>
      </p:sp>
      <p:sp>
        <p:nvSpPr>
          <p:cNvPr id="145" name="Shape 145"/>
          <p:cNvSpPr txBox="1"/>
          <p:nvPr/>
        </p:nvSpPr>
        <p:spPr>
          <a:xfrm>
            <a:off x="3208625" y="2417962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i="1" lang="en" sz="1800"/>
              <a:t>new field</a:t>
            </a:r>
          </a:p>
          <a:p>
            <a:pPr lvl="0">
              <a:spcBef>
                <a:spcPts val="0"/>
              </a:spcBef>
              <a:buNone/>
            </a:pPr>
            <a:r>
              <a:rPr i="1" lang="en" sz="1800"/>
              <a:t>synthesis</a:t>
            </a:r>
          </a:p>
          <a:p>
            <a:pPr lvl="0" rtl="0">
              <a:spcBef>
                <a:spcPts val="0"/>
              </a:spcBef>
              <a:buNone/>
            </a:pPr>
            <a:r>
              <a:rPr i="1" lang="en" sz="1800"/>
              <a:t>emergent</a:t>
            </a:r>
          </a:p>
        </p:txBody>
      </p:sp>
      <p:sp>
        <p:nvSpPr>
          <p:cNvPr id="146" name="Shape 146"/>
          <p:cNvSpPr txBox="1"/>
          <p:nvPr/>
        </p:nvSpPr>
        <p:spPr>
          <a:xfrm>
            <a:off x="674900" y="3465525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transdisciplinary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3179525" y="3478864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i="1" lang="en" sz="1800"/>
              <a:t>i</a:t>
            </a:r>
            <a:r>
              <a:rPr i="1" lang="en" sz="1800"/>
              <a:t>conoclastic</a:t>
            </a:r>
          </a:p>
          <a:p>
            <a:pPr lvl="0">
              <a:spcBef>
                <a:spcPts val="0"/>
              </a:spcBef>
              <a:buNone/>
            </a:pPr>
            <a:r>
              <a:rPr i="1" lang="en" sz="1800"/>
              <a:t>r</a:t>
            </a:r>
            <a:r>
              <a:rPr i="1" lang="en" sz="1800"/>
              <a:t>ebel</a:t>
            </a:r>
          </a:p>
          <a:p>
            <a:pPr lvl="0" rtl="0">
              <a:spcBef>
                <a:spcPts val="0"/>
              </a:spcBef>
              <a:buNone/>
            </a:pPr>
            <a:r>
              <a:rPr i="1" lang="en" sz="1800"/>
              <a:t>transformative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i="1" sz="1800"/>
          </a:p>
        </p:txBody>
      </p:sp>
      <p:sp>
        <p:nvSpPr>
          <p:cNvPr id="148" name="Shape 148"/>
          <p:cNvSpPr txBox="1"/>
          <p:nvPr/>
        </p:nvSpPr>
        <p:spPr>
          <a:xfrm>
            <a:off x="5950225" y="36000"/>
            <a:ext cx="2364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100">
                <a:solidFill>
                  <a:srgbClr val="222222"/>
                </a:solidFill>
                <a:highlight>
                  <a:srgbClr val="FFFFFF"/>
                </a:highlight>
              </a:rPr>
              <a:t>P</a:t>
            </a:r>
            <a:r>
              <a:rPr lang="en" sz="1100">
                <a:solidFill>
                  <a:srgbClr val="222222"/>
                </a:solidFill>
                <a:highlight>
                  <a:srgbClr val="FFFFFF"/>
                </a:highlight>
              </a:rPr>
              <a:t>hthi·sis 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/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ˈTHīsəs,ˈtīsəs/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5950225" y="419650"/>
            <a:ext cx="24342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100">
                <a:solidFill>
                  <a:srgbClr val="222222"/>
                </a:solidFill>
                <a:highlight>
                  <a:srgbClr val="FFFFFF"/>
                </a:highlight>
              </a:rPr>
              <a:t>S</a:t>
            </a:r>
            <a:r>
              <a:rPr lang="en" sz="1100">
                <a:solidFill>
                  <a:srgbClr val="222222"/>
                </a:solidFill>
                <a:highlight>
                  <a:srgbClr val="FFFFFF"/>
                </a:highlight>
              </a:rPr>
              <a:t>yz·y·gy /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ˈsizijē/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5946450" y="800650"/>
            <a:ext cx="31731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1100">
                <a:solidFill>
                  <a:srgbClr val="222222"/>
                </a:solidFill>
                <a:highlight>
                  <a:srgbClr val="FFFFFF"/>
                </a:highlight>
              </a:rPr>
              <a:t>Phil</a:t>
            </a:r>
            <a:r>
              <a:rPr lang="en" sz="1100">
                <a:solidFill>
                  <a:srgbClr val="222222"/>
                </a:solidFill>
                <a:highlight>
                  <a:srgbClr val="FFFFFF"/>
                </a:highlight>
              </a:rPr>
              <a:t>·os·o·nom·i·con /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ˈ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fəˈläsə näm cän</a:t>
            </a: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Jobs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674900" y="1819275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800"/>
              <a:t>multidisciplinary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672950" y="2660800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800"/>
              <a:t>interdisciplinary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674900" y="3617925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800"/>
              <a:t>transdisciplinary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3189825" y="1788325"/>
            <a:ext cx="2287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existing disciplines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60" name="Shape 160"/>
          <p:cNvSpPr txBox="1"/>
          <p:nvPr/>
        </p:nvSpPr>
        <p:spPr>
          <a:xfrm>
            <a:off x="3189825" y="2666945"/>
            <a:ext cx="1861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hot new field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61" name="Shape 161"/>
          <p:cNvSpPr txBox="1"/>
          <p:nvPr/>
        </p:nvSpPr>
        <p:spPr>
          <a:xfrm>
            <a:off x="5861700" y="2635125"/>
            <a:ext cx="2343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no existing home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62" name="Shape 162"/>
          <p:cNvSpPr txBox="1"/>
          <p:nvPr/>
        </p:nvSpPr>
        <p:spPr>
          <a:xfrm>
            <a:off x="3189825" y="3617125"/>
            <a:ext cx="1861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transformative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63" name="Shape 163"/>
          <p:cNvSpPr txBox="1"/>
          <p:nvPr/>
        </p:nvSpPr>
        <p:spPr>
          <a:xfrm>
            <a:off x="5861700" y="3615620"/>
            <a:ext cx="1861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threatening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64" name="Shape 164"/>
          <p:cNvSpPr txBox="1"/>
          <p:nvPr/>
        </p:nvSpPr>
        <p:spPr>
          <a:xfrm>
            <a:off x="5861700" y="1772870"/>
            <a:ext cx="1861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65" name="Shape 165"/>
          <p:cNvSpPr txBox="1"/>
          <p:nvPr/>
        </p:nvSpPr>
        <p:spPr>
          <a:xfrm>
            <a:off x="3189825" y="1093925"/>
            <a:ext cx="2287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800"/>
              <a:t>Positive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66" name="Shape 166"/>
          <p:cNvSpPr txBox="1"/>
          <p:nvPr/>
        </p:nvSpPr>
        <p:spPr>
          <a:xfrm>
            <a:off x="5861700" y="1073700"/>
            <a:ext cx="2287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800"/>
              <a:t>Negative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67" name="Shape 167"/>
          <p:cNvSpPr txBox="1"/>
          <p:nvPr/>
        </p:nvSpPr>
        <p:spPr>
          <a:xfrm>
            <a:off x="5846944" y="1779564"/>
            <a:ext cx="2343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existing disciplines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Shape 172"/>
          <p:cNvPicPr preferRelativeResize="0"/>
          <p:nvPr/>
        </p:nvPicPr>
        <p:blipFill rotWithShape="1">
          <a:blip r:embed="rId3">
            <a:alphaModFix/>
          </a:blip>
          <a:srcRect b="-1971" l="0" r="0" t="13161"/>
          <a:stretch/>
        </p:blipFill>
        <p:spPr>
          <a:xfrm>
            <a:off x="0" y="0"/>
            <a:ext cx="9144004" cy="59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Shape 1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</a:rPr>
              <a:t>Case Study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Work</a:t>
            </a:r>
          </a:p>
        </p:txBody>
      </p:sp>
      <p:sp>
        <p:nvSpPr>
          <p:cNvPr id="179" name="Shape 179"/>
          <p:cNvSpPr txBox="1"/>
          <p:nvPr/>
        </p:nvSpPr>
        <p:spPr>
          <a:xfrm>
            <a:off x="674900" y="1362075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800"/>
              <a:t>multidisciplinary</a:t>
            </a:r>
          </a:p>
        </p:txBody>
      </p:sp>
      <p:sp>
        <p:nvSpPr>
          <p:cNvPr id="180" name="Shape 180"/>
          <p:cNvSpPr txBox="1"/>
          <p:nvPr/>
        </p:nvSpPr>
        <p:spPr>
          <a:xfrm>
            <a:off x="672950" y="1975000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800"/>
              <a:t>interdisciplinary</a:t>
            </a:r>
          </a:p>
        </p:txBody>
      </p:sp>
      <p:sp>
        <p:nvSpPr>
          <p:cNvPr id="181" name="Shape 181"/>
          <p:cNvSpPr txBox="1"/>
          <p:nvPr/>
        </p:nvSpPr>
        <p:spPr>
          <a:xfrm>
            <a:off x="674900" y="2627325"/>
            <a:ext cx="2408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800"/>
              <a:t>transdisciplinary</a:t>
            </a:r>
          </a:p>
        </p:txBody>
      </p:sp>
      <p:sp>
        <p:nvSpPr>
          <p:cNvPr id="182" name="Shape 182"/>
          <p:cNvSpPr txBox="1"/>
          <p:nvPr/>
        </p:nvSpPr>
        <p:spPr>
          <a:xfrm>
            <a:off x="3280775" y="1362075"/>
            <a:ext cx="2287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choosing partners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83" name="Shape 183"/>
          <p:cNvSpPr txBox="1"/>
          <p:nvPr/>
        </p:nvSpPr>
        <p:spPr>
          <a:xfrm>
            <a:off x="3280775" y="1981880"/>
            <a:ext cx="1861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community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sp>
        <p:nvSpPr>
          <p:cNvPr id="184" name="Shape 184"/>
          <p:cNvSpPr txBox="1"/>
          <p:nvPr/>
        </p:nvSpPr>
        <p:spPr>
          <a:xfrm>
            <a:off x="3280775" y="2627325"/>
            <a:ext cx="1861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allies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Language</a:t>
            </a:r>
          </a:p>
        </p:txBody>
      </p:sp>
      <p:pic>
        <p:nvPicPr>
          <p:cNvPr id="190" name="Shape 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312" y="1288137"/>
            <a:ext cx="6181725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Shape 191"/>
          <p:cNvSpPr txBox="1"/>
          <p:nvPr/>
        </p:nvSpPr>
        <p:spPr>
          <a:xfrm>
            <a:off x="4974175" y="3126100"/>
            <a:ext cx="38703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Lokshtanov </a:t>
            </a:r>
            <a:r>
              <a:rPr i="1" lang="en" sz="1800"/>
              <a:t>et al</a:t>
            </a:r>
            <a:r>
              <a:rPr lang="en" sz="1800"/>
              <a:t> SODA 2017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Dictionary</a:t>
            </a:r>
          </a:p>
        </p:txBody>
      </p:sp>
      <p:pic>
        <p:nvPicPr>
          <p:cNvPr id="197" name="Shape 197"/>
          <p:cNvPicPr preferRelativeResize="0"/>
          <p:nvPr/>
        </p:nvPicPr>
        <p:blipFill rotWithShape="1">
          <a:blip r:embed="rId3">
            <a:alphaModFix/>
          </a:blip>
          <a:srcRect b="0" l="12619" r="22297" t="26383"/>
          <a:stretch/>
        </p:blipFill>
        <p:spPr>
          <a:xfrm>
            <a:off x="1823025" y="1690025"/>
            <a:ext cx="2182700" cy="18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Shape 198"/>
          <p:cNvSpPr txBox="1"/>
          <p:nvPr/>
        </p:nvSpPr>
        <p:spPr>
          <a:xfrm>
            <a:off x="1763525" y="3628050"/>
            <a:ext cx="2445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Sean Hallgren</a:t>
            </a:r>
          </a:p>
          <a:p>
            <a:pPr lvl="0">
              <a:spcBef>
                <a:spcPts val="0"/>
              </a:spcBef>
              <a:buNone/>
            </a:pPr>
            <a:r>
              <a:rPr lang="en" sz="1800"/>
              <a:t>Theoretical CS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/>
              <a:t>Penn State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  <p:pic>
        <p:nvPicPr>
          <p:cNvPr id="199" name="Shape 1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5714" y="1690025"/>
            <a:ext cx="1406119" cy="18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Shape 200"/>
          <p:cNvSpPr txBox="1"/>
          <p:nvPr/>
        </p:nvSpPr>
        <p:spPr>
          <a:xfrm>
            <a:off x="4825900" y="3551850"/>
            <a:ext cx="30000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</a:rPr>
              <a:t>Yaoyun Shi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</a:rPr>
              <a:t>Theoretical CS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chemeClr val="dk1"/>
                </a:solidFill>
              </a:rPr>
              <a:t>Michigan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2083200" y="1123050"/>
            <a:ext cx="4439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Translation dictionaries open up worlds.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Hobbies</a:t>
            </a:r>
          </a:p>
        </p:txBody>
      </p:sp>
      <p:pic>
        <p:nvPicPr>
          <p:cNvPr id="207" name="Shape 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" y="1093933"/>
            <a:ext cx="9143999" cy="3686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Freedom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899375" y="872000"/>
            <a:ext cx="73161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“</a:t>
            </a:r>
            <a:r>
              <a:rPr i="1" lang="en" sz="1800"/>
              <a:t>Freedom's just another word for nothing left to lose</a:t>
            </a:r>
            <a:r>
              <a:rPr lang="en" sz="1800"/>
              <a:t>” - Janis Joplin</a:t>
            </a:r>
          </a:p>
        </p:txBody>
      </p:sp>
      <p:pic>
        <p:nvPicPr>
          <p:cNvPr descr="doors-1690423.jpg" id="214" name="Shape 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400" y="1656424"/>
            <a:ext cx="5565179" cy="296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Whimsy</a:t>
            </a:r>
          </a:p>
        </p:txBody>
      </p:sp>
      <p:pic>
        <p:nvPicPr>
          <p:cNvPr id="220" name="Shape 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475" y="1122125"/>
            <a:ext cx="4950474" cy="38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Create, Create, Create, Create</a:t>
            </a:r>
          </a:p>
        </p:txBody>
      </p:sp>
      <p:pic>
        <p:nvPicPr>
          <p:cNvPr id="226" name="Shape 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5439"/>
            <a:ext cx="9144003" cy="392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Shape 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100" y="949875"/>
            <a:ext cx="3014400" cy="401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Shape 2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Imma Dog Says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