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Default Extension="jpeg" ContentType="image/jpeg"/>
  <Default Extension="xml" ContentType="application/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handoutMasters/handoutMaster1.xml" ContentType="application/vnd.openxmlformats-officedocument.presentationml.handout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-9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291D4-BBEA-8D44-ADBC-576DAEF8DEF8}" type="datetimeFigureOut">
              <a:rPr lang="en-US" smtClean="0"/>
              <a:t>11/10/09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048B-9364-EC4C-BAF5-5EEED0EF70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ABC97F-48C5-C04D-8795-8AE884899C5A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355EB7A-25EE-0743-B4AE-A54039EF9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89B51BE-96F9-024A-BC73-4720B6E22F96}" type="slidenum">
              <a:rPr lang="en-US">
                <a:ea typeface="ＭＳ Ｐゴシック" charset="-128"/>
                <a:cs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55EB7A-25EE-0743-B4AE-A54039EF9F4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62149-8800-3948-BA56-75B42FF6E34D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9EFF2-CAE9-F749-B515-E59725F8B8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B9C91-B8A3-6448-83C2-2FEDCDB727ED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D687F-B8D7-CD4C-868E-27ABF93A66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20AF4-549B-6141-8727-FD1DB7BFD302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12E7F-A6F8-9643-A75B-7654C5980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6FCFC-22CF-DE47-A790-8D3484F0F58E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43457-2A9C-BD4B-AEC8-1D6E6EBB5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B9A41-968A-6940-8356-70F0154B283D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5B244-1EF8-0D43-AB98-9E0CDADEF7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3C89E7-AAEF-E54D-9012-69A39B0CC714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A03CB-0638-9049-BE35-203961EA8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37BB6-07D3-DA4B-97D7-AA8CB76484BA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27B19-275A-A64B-8B2E-36A7EC1423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604B9-D4D7-C943-874F-6E3396EF713E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B6840-0128-604B-94E5-44422158FD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1CE54-0827-DD4F-8334-C2B2275D3F70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2BA9F-C120-4847-8522-24C7C67ED9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DF4E1-862D-FD4C-A5ED-2CC5C5F98FF0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CA17D-606A-EE43-9975-6302DBE5C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E1D88-D779-834E-8ADB-D65D64AB1900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F3B59-FFB7-294F-B812-D3DA5FCB8C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E9BCC0F-C49C-FE43-BF54-CCC0732AB5F4}" type="datetime1">
              <a:rPr lang="en-US"/>
              <a:pPr>
                <a:defRPr/>
              </a:pPr>
              <a:t>11/10/09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8DA8D4B-23C3-6042-95AE-E39EB4B01E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>
          <a:xfrm>
            <a:off x="685800" y="442913"/>
            <a:ext cx="7772400" cy="1470025"/>
          </a:xfrm>
        </p:spPr>
        <p:txBody>
          <a:bodyPr/>
          <a:lstStyle/>
          <a:p>
            <a:r>
              <a:rPr lang="en-US" smtClean="0"/>
              <a:t>Some Quantum Computing Heresy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5613" y="2347913"/>
            <a:ext cx="8002587" cy="1752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 b="1" dirty="0" smtClean="0">
                <a:solidFill>
                  <a:srgbClr val="0000FF"/>
                </a:solidFill>
                <a:ea typeface="+mn-ea"/>
                <a:cs typeface="+mn-cs"/>
              </a:rPr>
              <a:t>Dave </a:t>
            </a:r>
            <a:r>
              <a:rPr lang="en-US" b="1" dirty="0" smtClean="0">
                <a:solidFill>
                  <a:srgbClr val="0000FF"/>
                </a:solidFill>
                <a:ea typeface="+mn-ea"/>
                <a:cs typeface="+mn-cs"/>
              </a:rPr>
              <a:t>Bacon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 dirty="0" smtClean="0">
                <a:ea typeface="+mn-ea"/>
                <a:cs typeface="+mn-cs"/>
              </a:rPr>
              <a:t>Dept</a:t>
            </a:r>
            <a:r>
              <a:rPr lang="en-US" dirty="0" smtClean="0">
                <a:ea typeface="+mn-ea"/>
                <a:cs typeface="+mn-cs"/>
              </a:rPr>
              <a:t>. of Computer Science &amp; Engineering</a:t>
            </a:r>
            <a:r>
              <a:rPr lang="en-US" dirty="0" smtClean="0">
                <a:ea typeface="+mn-ea"/>
                <a:cs typeface="+mn-cs"/>
              </a:rPr>
              <a:t> </a:t>
            </a:r>
          </a:p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 i="1" dirty="0" smtClean="0">
                <a:ea typeface="+mn-ea"/>
                <a:cs typeface="+mn-cs"/>
              </a:rPr>
              <a:t>University of Washington</a:t>
            </a: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5870575" y="6410325"/>
            <a:ext cx="31781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 charset="0"/>
              </a:rPr>
              <a:t>IARPA visit  to UW Nov 16, 2009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860" y="4628785"/>
            <a:ext cx="6574287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UW quantum computing theory group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 </a:t>
            </a:r>
          </a:p>
          <a:p>
            <a:pPr lvl="0" algn="ctr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Eric </a:t>
            </a:r>
            <a:r>
              <a:rPr lang="en-US" sz="2400" dirty="0">
                <a:solidFill>
                  <a:prstClr val="black"/>
                </a:solidFill>
                <a:latin typeface="Calibri" charset="0"/>
              </a:rPr>
              <a:t>Chastain (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CSE), Isaac </a:t>
            </a:r>
            <a:r>
              <a:rPr lang="en-US" sz="2400" dirty="0" err="1" smtClean="0">
                <a:solidFill>
                  <a:prstClr val="black"/>
                </a:solidFill>
                <a:latin typeface="Calibri" charset="0"/>
              </a:rPr>
              <a:t>Crosson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 (Physics)</a:t>
            </a:r>
          </a:p>
          <a:p>
            <a:pPr lvl="0" algn="ctr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Gregory </a:t>
            </a:r>
            <a:r>
              <a:rPr lang="en-US" sz="2400" dirty="0" err="1" smtClean="0">
                <a:solidFill>
                  <a:prstClr val="black"/>
                </a:solidFill>
                <a:latin typeface="Calibri" charset="0"/>
              </a:rPr>
              <a:t>Crosswhite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 (Physics), Lukas </a:t>
            </a:r>
            <a:r>
              <a:rPr lang="en-US" sz="2400" dirty="0" err="1" smtClean="0">
                <a:solidFill>
                  <a:prstClr val="black"/>
                </a:solidFill>
                <a:latin typeface="Calibri" charset="0"/>
              </a:rPr>
              <a:t>Svec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 (Physics) </a:t>
            </a:r>
            <a:endParaRPr lang="en-US" sz="2400" dirty="0">
              <a:solidFill>
                <a:prstClr val="black"/>
              </a:solidFill>
              <a:latin typeface="Calibri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2363068" y="4373714"/>
            <a:ext cx="652462" cy="15827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8975" y="4613275"/>
            <a:ext cx="652463" cy="9826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8" y="274638"/>
            <a:ext cx="8686800" cy="11430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The Central Dogma of Quantum Computing</a:t>
            </a: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250825" y="1654175"/>
            <a:ext cx="8686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 charset="0"/>
              </a:rPr>
              <a:t>Faulty quantum computing elements can be put together to build a quantum computer with a low probability of failure if the individual elements fail with small enough probability (the threshold) </a:t>
            </a:r>
          </a:p>
        </p:txBody>
      </p:sp>
      <p:sp>
        <p:nvSpPr>
          <p:cNvPr id="16390" name="TextBox 5"/>
          <p:cNvSpPr txBox="1">
            <a:spLocks noChangeArrowheads="1"/>
          </p:cNvSpPr>
          <p:nvPr/>
        </p:nvSpPr>
        <p:spPr bwMode="auto">
          <a:xfrm>
            <a:off x="276225" y="3074988"/>
            <a:ext cx="863758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 charset="0"/>
              </a:rPr>
              <a:t>Therefore </a:t>
            </a:r>
            <a:r>
              <a:rPr lang="en-US" sz="2400">
                <a:latin typeface="Calibri" charset="0"/>
              </a:rPr>
              <a:t>we should focus on one and two qubit devices, making all effort to get devices below threshold </a:t>
            </a:r>
            <a:endParaRPr lang="en-US" sz="2400" b="1">
              <a:latin typeface="Calibri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820738" y="4900613"/>
            <a:ext cx="371475" cy="371475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13013" y="4681538"/>
            <a:ext cx="371475" cy="371475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503488" y="5272088"/>
            <a:ext cx="371475" cy="371475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57688" y="4921250"/>
            <a:ext cx="371475" cy="371475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348163" y="5499100"/>
            <a:ext cx="371475" cy="371475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57688" y="3986213"/>
            <a:ext cx="371475" cy="371475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529138" y="4462463"/>
            <a:ext cx="44450" cy="460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529138" y="4614863"/>
            <a:ext cx="44450" cy="460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525963" y="4767263"/>
            <a:ext cx="44450" cy="460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400" name="TextBox 16"/>
          <p:cNvSpPr txBox="1">
            <a:spLocks noChangeArrowheads="1"/>
          </p:cNvSpPr>
          <p:nvPr/>
        </p:nvSpPr>
        <p:spPr bwMode="auto">
          <a:xfrm>
            <a:off x="539750" y="5870575"/>
            <a:ext cx="9334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Calibri" charset="0"/>
              </a:rPr>
              <a:t>one  qubit</a:t>
            </a:r>
          </a:p>
        </p:txBody>
      </p:sp>
      <p:sp>
        <p:nvSpPr>
          <p:cNvPr id="16401" name="TextBox 17"/>
          <p:cNvSpPr txBox="1">
            <a:spLocks noChangeArrowheads="1"/>
          </p:cNvSpPr>
          <p:nvPr/>
        </p:nvSpPr>
        <p:spPr bwMode="auto">
          <a:xfrm>
            <a:off x="2184400" y="5870575"/>
            <a:ext cx="1122363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Calibri" charset="0"/>
              </a:rPr>
              <a:t>two  </a:t>
            </a:r>
            <a:r>
              <a:rPr lang="en-US" sz="2400" dirty="0" err="1">
                <a:latin typeface="Calibri" charset="0"/>
              </a:rPr>
              <a:t>qubits</a:t>
            </a:r>
            <a:endParaRPr lang="en-US" sz="2400" dirty="0">
              <a:latin typeface="Calibri" charset="0"/>
            </a:endParaRPr>
          </a:p>
        </p:txBody>
      </p:sp>
      <p:sp>
        <p:nvSpPr>
          <p:cNvPr id="16402" name="TextBox 19"/>
          <p:cNvSpPr txBox="1">
            <a:spLocks noChangeArrowheads="1"/>
          </p:cNvSpPr>
          <p:nvPr/>
        </p:nvSpPr>
        <p:spPr bwMode="auto">
          <a:xfrm>
            <a:off x="3998913" y="5870575"/>
            <a:ext cx="1150937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Calibri" charset="0"/>
              </a:rPr>
              <a:t>many</a:t>
            </a:r>
          </a:p>
          <a:p>
            <a:pPr algn="ctr"/>
            <a:r>
              <a:rPr lang="en-US" sz="2400">
                <a:latin typeface="Calibri" charset="0"/>
              </a:rPr>
              <a:t>qubits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3330575" y="5053013"/>
            <a:ext cx="814388" cy="1587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013325" y="5057775"/>
            <a:ext cx="1357313" cy="1588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405" name="Picture 3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42075" y="3878263"/>
            <a:ext cx="2544763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06" name="TextBox 42"/>
          <p:cNvSpPr txBox="1">
            <a:spLocks noChangeArrowheads="1"/>
          </p:cNvSpPr>
          <p:nvPr/>
        </p:nvSpPr>
        <p:spPr bwMode="auto">
          <a:xfrm>
            <a:off x="5086350" y="5320342"/>
            <a:ext cx="1149350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 smtClean="0">
                <a:latin typeface="Calibri" charset="0"/>
              </a:rPr>
              <a:t>theory</a:t>
            </a:r>
          </a:p>
          <a:p>
            <a:pPr algn="ctr"/>
            <a:r>
              <a:rPr lang="en-US" sz="2400" dirty="0" smtClean="0">
                <a:latin typeface="Calibri" charset="0"/>
              </a:rPr>
              <a:t>magic </a:t>
            </a:r>
            <a:r>
              <a:rPr lang="en-US" sz="2400" dirty="0">
                <a:latin typeface="Calibri" charset="0"/>
              </a:rPr>
              <a:t>occurs</a:t>
            </a:r>
          </a:p>
        </p:txBody>
      </p:sp>
      <p:sp>
        <p:nvSpPr>
          <p:cNvPr id="16407" name="Rectangle 43"/>
          <p:cNvSpPr>
            <a:spLocks noChangeArrowheads="1"/>
          </p:cNvSpPr>
          <p:nvPr/>
        </p:nvSpPr>
        <p:spPr bwMode="auto">
          <a:xfrm>
            <a:off x="6443663" y="5676900"/>
            <a:ext cx="25558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000000"/>
                </a:solidFill>
                <a:latin typeface="Calibri" charset="0"/>
              </a:rPr>
              <a:t>large quantum</a:t>
            </a:r>
          </a:p>
          <a:p>
            <a:pPr algn="ctr"/>
            <a:r>
              <a:rPr lang="en-US" sz="2400">
                <a:solidFill>
                  <a:srgbClr val="000000"/>
                </a:solidFill>
                <a:latin typeface="Calibri" charset="0"/>
              </a:rPr>
              <a:t>computer breaking </a:t>
            </a:r>
          </a:p>
          <a:p>
            <a:pPr algn="ctr"/>
            <a:r>
              <a:rPr lang="en-US" sz="2400">
                <a:solidFill>
                  <a:srgbClr val="000000"/>
                </a:solidFill>
                <a:latin typeface="Calibri" charset="0"/>
              </a:rPr>
              <a:t>a cryptosystem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Looking Nothing Like the Classical World</a:t>
            </a:r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7888" y="1717675"/>
            <a:ext cx="4718050" cy="210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469180" y="4143224"/>
            <a:ext cx="743046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 charset="0"/>
              </a:rPr>
              <a:t>Classical devices </a:t>
            </a:r>
            <a:r>
              <a:rPr lang="en-US" sz="2400" dirty="0" smtClean="0">
                <a:latin typeface="Calibri" charset="0"/>
              </a:rPr>
              <a:t>need no or little error correction?  </a:t>
            </a:r>
          </a:p>
          <a:p>
            <a:r>
              <a:rPr lang="en-US" sz="2400" dirty="0" smtClean="0">
                <a:latin typeface="Calibri" charset="0"/>
              </a:rPr>
              <a:t>No fault-tolerant computing methods? </a:t>
            </a:r>
            <a:endParaRPr lang="en-US" sz="2400" dirty="0">
              <a:latin typeface="Calibri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283910"/>
            <a:ext cx="85433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Observation: 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The statistical physics of classical computing devices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is responsible for their ability to robust store and manipulate data.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A Second Look at the Transistor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717" y="1503319"/>
            <a:ext cx="46238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Can we build a quantum transistor?</a:t>
            </a:r>
            <a:endParaRPr lang="en-US" sz="2400" dirty="0">
              <a:solidFill>
                <a:prstClr val="black"/>
              </a:solidFill>
              <a:latin typeface="Calibri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7757" y="2500390"/>
            <a:ext cx="23969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Integrated Circuit</a:t>
            </a:r>
          </a:p>
          <a:p>
            <a:pPr lvl="0" algn="ctr"/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Transistors</a:t>
            </a:r>
            <a:endParaRPr lang="en-US" sz="2400" b="1" dirty="0">
              <a:solidFill>
                <a:prstClr val="black"/>
              </a:solidFill>
              <a:latin typeface="Calibri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765" y="843425"/>
            <a:ext cx="1903589" cy="17032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06498" y="2464444"/>
            <a:ext cx="37803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Current Quantum Computer</a:t>
            </a:r>
          </a:p>
          <a:p>
            <a:pPr lvl="0"/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Designs</a:t>
            </a:r>
            <a:endParaRPr lang="en-US" sz="2400" b="1" dirty="0">
              <a:solidFill>
                <a:prstClr val="black"/>
              </a:solidFill>
              <a:latin typeface="Calibri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430887"/>
            <a:ext cx="312026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 charset="0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nformation propagates</a:t>
            </a:r>
          </a:p>
          <a:p>
            <a:r>
              <a:rPr lang="en-US" sz="2400" dirty="0">
                <a:solidFill>
                  <a:prstClr val="black"/>
                </a:solidFill>
                <a:latin typeface="Calibri" charset="0"/>
              </a:rPr>
              <a:t>s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patially across device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4909976"/>
            <a:ext cx="3460954" cy="120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Phase transition used to </a:t>
            </a:r>
          </a:p>
          <a:p>
            <a:r>
              <a:rPr lang="en-US" sz="2400" dirty="0">
                <a:solidFill>
                  <a:prstClr val="black"/>
                </a:solidFill>
                <a:latin typeface="Calibri" charset="0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nduce this propagation </a:t>
            </a:r>
          </a:p>
          <a:p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(on/off = different phases)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03990" y="3430887"/>
            <a:ext cx="378281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static information carriers,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Calibri" charset="0"/>
              </a:rPr>
              <a:t>a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lgorithm applied to static carriers (or flying </a:t>
            </a:r>
            <a:r>
              <a:rPr lang="en-US" sz="2400" dirty="0" err="1" smtClean="0">
                <a:solidFill>
                  <a:prstClr val="black"/>
                </a:solidFill>
                <a:latin typeface="Calibri" charset="0"/>
              </a:rPr>
              <a:t>qubits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03990" y="4897994"/>
            <a:ext cx="378281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“Pulsed” implementations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Calibri" charset="0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nvolving precise timing to apply computations 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2674855" y="4328470"/>
            <a:ext cx="3563668" cy="1588"/>
          </a:xfrm>
          <a:prstGeom prst="line">
            <a:avLst/>
          </a:prstGeom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ounded Rectangle 175"/>
          <p:cNvSpPr/>
          <p:nvPr/>
        </p:nvSpPr>
        <p:spPr>
          <a:xfrm>
            <a:off x="7137201" y="1563148"/>
            <a:ext cx="503137" cy="24030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ounded Rectangle 172"/>
          <p:cNvSpPr/>
          <p:nvPr/>
        </p:nvSpPr>
        <p:spPr>
          <a:xfrm>
            <a:off x="1340683" y="1589287"/>
            <a:ext cx="503137" cy="24030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/>
          <p:cNvCxnSpPr/>
          <p:nvPr/>
        </p:nvCxnSpPr>
        <p:spPr>
          <a:xfrm rot="5400000" flipH="1" flipV="1">
            <a:off x="2452356" y="2800092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rot="5400000" flipH="1" flipV="1">
            <a:off x="2166307" y="2805234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 flipH="1" flipV="1">
            <a:off x="1847623" y="2805234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rot="5400000" flipH="1" flipV="1">
            <a:off x="1561574" y="2810376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rot="5400000" flipH="1" flipV="1">
            <a:off x="1273062" y="2810376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rot="5400000" flipH="1" flipV="1">
            <a:off x="987013" y="2815518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rot="5400000" flipH="1" flipV="1">
            <a:off x="668329" y="2815518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1406584" y="2965533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472463" y="3575549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1421881" y="3272716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1515037" y="2641654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1499740" y="2334471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1449158" y="2031638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1433861" y="1724455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487760" y="3882732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to Build a Quantum Transistor</a:t>
            </a:r>
          </a:p>
        </p:txBody>
      </p:sp>
      <p:sp>
        <p:nvSpPr>
          <p:cNvPr id="3" name="Oval 2"/>
          <p:cNvSpPr/>
          <p:nvPr/>
        </p:nvSpPr>
        <p:spPr>
          <a:xfrm>
            <a:off x="1337366" y="164493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624863" y="164156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40683" y="194776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624863" y="194439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36320" y="163631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20500" y="163294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936320" y="193914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220500" y="193578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348331" y="226257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632511" y="225921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348331" y="256541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632511" y="256204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943968" y="225396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228148" y="225059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943968" y="255679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228148" y="255343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19977" y="163294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04157" y="162958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519977" y="193578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804157" y="193241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115614" y="162433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399794" y="162096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115614" y="192716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399794" y="192380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527625" y="225059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811805" y="224723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2527625" y="255343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811805" y="255006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123262" y="224198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407442" y="223861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123262" y="254481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407442" y="254144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345015" y="286487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629195" y="286151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345015" y="316771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629195" y="316434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940652" y="285626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224832" y="285289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940652" y="315909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224832" y="315573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352663" y="348252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636843" y="347916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352663" y="378536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636843" y="378199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948300" y="347391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232480" y="347054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948300" y="377674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2232480" y="377337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524309" y="285289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808489" y="284953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524309" y="315573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808489" y="315236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119946" y="284428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3404126" y="284091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3119946" y="314711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3404126" y="314374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2531957" y="347054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2816137" y="346717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531957" y="377337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816137" y="377001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127594" y="346192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411774" y="345856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127594" y="376476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3411774" y="376139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93" name="Straight Connector 92"/>
          <p:cNvCxnSpPr/>
          <p:nvPr/>
        </p:nvCxnSpPr>
        <p:spPr>
          <a:xfrm rot="5400000" flipH="1" flipV="1">
            <a:off x="6473943" y="2768412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rot="5400000" flipH="1" flipV="1">
            <a:off x="6187894" y="2773554"/>
            <a:ext cx="2114687" cy="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rot="5400000" flipH="1" flipV="1">
            <a:off x="5869210" y="2773554"/>
            <a:ext cx="2114687" cy="6201"/>
          </a:xfrm>
          <a:prstGeom prst="lin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cxnSp>
      <p:cxnSp>
        <p:nvCxnSpPr>
          <p:cNvPr id="96" name="Straight Connector 95"/>
          <p:cNvCxnSpPr/>
          <p:nvPr/>
        </p:nvCxnSpPr>
        <p:spPr>
          <a:xfrm rot="5400000" flipH="1" flipV="1">
            <a:off x="5583161" y="2778696"/>
            <a:ext cx="2114687" cy="6201"/>
          </a:xfrm>
          <a:prstGeom prst="lin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cxnSp>
      <p:cxnSp>
        <p:nvCxnSpPr>
          <p:cNvPr id="97" name="Straight Connector 96"/>
          <p:cNvCxnSpPr/>
          <p:nvPr/>
        </p:nvCxnSpPr>
        <p:spPr>
          <a:xfrm rot="5400000" flipH="1" flipV="1">
            <a:off x="5294649" y="2778696"/>
            <a:ext cx="2114687" cy="6201"/>
          </a:xfrm>
          <a:prstGeom prst="lin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cxnSp>
      <p:cxnSp>
        <p:nvCxnSpPr>
          <p:cNvPr id="98" name="Straight Connector 97"/>
          <p:cNvCxnSpPr/>
          <p:nvPr/>
        </p:nvCxnSpPr>
        <p:spPr>
          <a:xfrm rot="5400000" flipH="1" flipV="1">
            <a:off x="5008600" y="2783838"/>
            <a:ext cx="2114687" cy="6201"/>
          </a:xfrm>
          <a:prstGeom prst="lin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cxnSp>
      <p:cxnSp>
        <p:nvCxnSpPr>
          <p:cNvPr id="99" name="Straight Connector 98"/>
          <p:cNvCxnSpPr/>
          <p:nvPr/>
        </p:nvCxnSpPr>
        <p:spPr>
          <a:xfrm rot="5400000" flipH="1" flipV="1">
            <a:off x="4689916" y="2783838"/>
            <a:ext cx="2114687" cy="6201"/>
          </a:xfrm>
          <a:prstGeom prst="lin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5428171" y="2933853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5494050" y="3543869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5443468" y="3241036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5536624" y="2609974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5521327" y="2302791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V="1">
            <a:off x="5470745" y="1999958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5455448" y="1692775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5509347" y="3851052"/>
            <a:ext cx="2035151" cy="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5362270" y="1613251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5646450" y="1609885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5362270" y="1916084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5646450" y="1912718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5957907" y="1604635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6242087" y="1601269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5957907" y="1907468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6242087" y="1904102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5369918" y="2230899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5654098" y="2227533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5369918" y="2533732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5654098" y="2530366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965555" y="2222283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6249735" y="2218917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5965555" y="2525116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6249735" y="2521750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6541564" y="1601269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6825744" y="1597903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6541564" y="1904102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6825744" y="1900736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7137201" y="159265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7421381" y="1589287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7137201" y="189548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7421381" y="1892120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6549212" y="2218917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6833392" y="2215551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6549212" y="2521750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6833392" y="2518384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7144849" y="221030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7429029" y="220693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7144849" y="251313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7429029" y="250976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366602" y="2833199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5650782" y="2829833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5366602" y="3136032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5650782" y="3132666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5962239" y="2824583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6246419" y="2821217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5962239" y="3127416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6246419" y="3124050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5374250" y="3450847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5658430" y="3447481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5374250" y="3753680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5658430" y="3750314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5969887" y="3442231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6254067" y="3438865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5969887" y="3745064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6254067" y="3741698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6545896" y="2821217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6830076" y="2817851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545896" y="3124050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6830076" y="3120684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7141533" y="2812601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7425713" y="2809235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7141533" y="3115434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7425713" y="3112068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6553544" y="3438865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6837724" y="3435499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6553544" y="3741698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6837724" y="3738332"/>
            <a:ext cx="206977" cy="206977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7149181" y="3430249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7433361" y="3426883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7149181" y="3733082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7433361" y="3729716"/>
            <a:ext cx="206977" cy="20697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4" name="Straight Arrow Connector 173"/>
          <p:cNvCxnSpPr/>
          <p:nvPr/>
        </p:nvCxnSpPr>
        <p:spPr>
          <a:xfrm>
            <a:off x="4144963" y="2739915"/>
            <a:ext cx="814388" cy="1587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3685367" y="2882363"/>
            <a:ext cx="1638489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dirty="0" smtClean="0"/>
              <a:t>pply</a:t>
            </a:r>
          </a:p>
          <a:p>
            <a:pPr algn="ctr"/>
            <a:r>
              <a:rPr lang="en-US" sz="2400" dirty="0" smtClean="0"/>
              <a:t>“magnetic”</a:t>
            </a:r>
          </a:p>
          <a:p>
            <a:pPr algn="ctr"/>
            <a:r>
              <a:rPr lang="en-US" sz="2400" dirty="0" smtClean="0"/>
              <a:t>field</a:t>
            </a:r>
            <a:endParaRPr lang="en-US" sz="2400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850" y="2490030"/>
            <a:ext cx="5207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04163" y="2532894"/>
            <a:ext cx="9779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Rectangle 179"/>
          <p:cNvSpPr/>
          <p:nvPr/>
        </p:nvSpPr>
        <p:spPr>
          <a:xfrm>
            <a:off x="457200" y="4040265"/>
            <a:ext cx="8138616" cy="120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Applied field induces quantum phase transition and quantum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Calibri" charset="0"/>
              </a:rPr>
              <a:t>i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nformation is propagated from input to output with a quantum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Calibri" charset="0"/>
              </a:rPr>
              <a:t>c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ircuit applied</a:t>
            </a:r>
            <a:endParaRPr lang="en-US" sz="2400" dirty="0">
              <a:solidFill>
                <a:prstClr val="black"/>
              </a:solidFill>
              <a:latin typeface="Calibri" charset="0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469180" y="5240593"/>
            <a:ext cx="786300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No pulsing: applied field need only be applied “slowly”, errors</a:t>
            </a:r>
          </a:p>
          <a:p>
            <a:pPr lvl="0"/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in timing do not affect result.  </a:t>
            </a:r>
            <a:endParaRPr lang="en-US" sz="2400" dirty="0">
              <a:solidFill>
                <a:prstClr val="black"/>
              </a:solidFill>
              <a:latin typeface="Calibri" charset="0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1070725" y="6155464"/>
            <a:ext cx="6965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  <a:latin typeface="Calibri" charset="0"/>
              </a:rPr>
              <a:t>Can we build this quantum transistor? D-wave might.</a:t>
            </a:r>
            <a:r>
              <a:rPr lang="en-US" sz="2400" dirty="0" smtClean="0">
                <a:solidFill>
                  <a:prstClr val="black"/>
                </a:solidFill>
                <a:latin typeface="Calibri" charset="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One More Heresy For the Road</a:t>
            </a:r>
            <a:endParaRPr lang="en-US" dirty="0" smtClean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250825" y="1143000"/>
            <a:ext cx="8686800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latin typeface="Calibri" charset="0"/>
              </a:rPr>
              <a:t>The quantum laws of probability can be (nearly) derived from maximizing information in setting where angle is revealed through stochastic “yes”/“no” clicks (</a:t>
            </a:r>
            <a:r>
              <a:rPr lang="en-US" sz="2400" dirty="0" err="1" smtClean="0">
                <a:latin typeface="Calibri" charset="0"/>
              </a:rPr>
              <a:t>Wootters</a:t>
            </a:r>
            <a:r>
              <a:rPr lang="en-US" sz="2400" dirty="0" smtClean="0">
                <a:latin typeface="Calibri" charset="0"/>
              </a:rPr>
              <a:t>)</a:t>
            </a:r>
            <a:endParaRPr lang="en-US" sz="2400" dirty="0">
              <a:latin typeface="Calibri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631" y="2343328"/>
            <a:ext cx="4241800" cy="1612900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62805" y="4167454"/>
            <a:ext cx="8686800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latin typeface="Calibri" charset="0"/>
              </a:rPr>
              <a:t>Can we invert this observation: derive optimal machine learning algorithms for learning data when it is revealed only through probabilities of outcomes? </a:t>
            </a:r>
            <a:endParaRPr lang="en-US" sz="2400" dirty="0">
              <a:latin typeface="Calibri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559861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endParaRPr lang="en-US" sz="2400" dirty="0">
              <a:solidFill>
                <a:prstClr val="black"/>
              </a:solidFill>
              <a:latin typeface="Calibri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0129" y="5668744"/>
            <a:ext cx="4181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Dual motivations for quantum computing</a:t>
            </a:r>
            <a:endParaRPr lang="en-US" sz="2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364</Words>
  <Application>Microsoft Macintosh PowerPoint</Application>
  <PresentationFormat>On-screen Show (4:3)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ＭＳ Ｐゴシック</vt:lpstr>
      <vt:lpstr>Arial</vt:lpstr>
      <vt:lpstr>Office Theme</vt:lpstr>
      <vt:lpstr>Some Quantum Computing Heresy</vt:lpstr>
      <vt:lpstr>The Central Dogma of Quantum Computing</vt:lpstr>
      <vt:lpstr>Looking Nothing Like the Classical World</vt:lpstr>
      <vt:lpstr>A Second Look at the Transistor</vt:lpstr>
      <vt:lpstr>How to Build a Quantum Transistor</vt:lpstr>
      <vt:lpstr>One More Heresy For the Road</vt:lpstr>
    </vt:vector>
  </TitlesOfParts>
  <Company>University of Washington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Quantum Computing Heresy</dc:title>
  <dc:creator>Dave Bacon</dc:creator>
  <cp:lastModifiedBy>Dave Bacon</cp:lastModifiedBy>
  <cp:revision>27</cp:revision>
  <dcterms:created xsi:type="dcterms:W3CDTF">2009-11-10T16:21:19Z</dcterms:created>
  <dcterms:modified xsi:type="dcterms:W3CDTF">2009-11-10T17:41:53Z</dcterms:modified>
</cp:coreProperties>
</file>